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0"/>
  </p:notesMasterIdLst>
  <p:sldIdLst>
    <p:sldId id="264" r:id="rId2"/>
    <p:sldId id="266" r:id="rId3"/>
    <p:sldId id="267" r:id="rId4"/>
    <p:sldId id="269" r:id="rId5"/>
    <p:sldId id="270" r:id="rId6"/>
    <p:sldId id="271" r:id="rId7"/>
    <p:sldId id="268" r:id="rId8"/>
    <p:sldId id="260" r:id="rId9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9E3"/>
    <a:srgbClr val="F2E6CC"/>
    <a:srgbClr val="E03A00"/>
    <a:srgbClr val="172B7E"/>
    <a:srgbClr val="2BA287"/>
    <a:srgbClr val="19A78C"/>
    <a:srgbClr val="19937C"/>
    <a:srgbClr val="43AB97"/>
    <a:srgbClr val="CC008C"/>
    <a:srgbClr val="00A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969" autoAdjust="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2/05/2025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02/05/2025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02/05/2025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02/05/2025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02/05/2025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02/05/2025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02/05/2025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02/05/2025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02/05/2025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02/05/2025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02/05/2025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xperience.arcgis.com/experience/4cd8b4dc4ae34acebd09c7c18af045b4/page/Energ%C3%ADa-el%C3%A9ctric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nla.gov.co/eureka/geovisores/177-sistema-de-informacion-geografica-visor-geografico-agencia-nacional-de-mineria-anm-visor-de-titulos-mineros-de-colombia" TargetMode="External"/><Relationship Id="rId5" Type="http://schemas.openxmlformats.org/officeDocument/2006/relationships/hyperlink" Target="https://caracol.com.co/2024/10/02/upme-proyectos-de-energia-solar-abastecen-cerca-del-10-de-la-demanda-nacional/" TargetMode="External"/><Relationship Id="rId4" Type="http://schemas.openxmlformats.org/officeDocument/2006/relationships/hyperlink" Target="https://upme.maps.arcgis.com/apps/dashboards/60b51533dd714e1cb536419f8343968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52368" y="1509163"/>
            <a:ext cx="6201268" cy="16369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chemeClr val="accent3"/>
                </a:solidFill>
                <a:latin typeface="Ancizar Serif"/>
                <a:cs typeface="Ancizar Serif"/>
              </a:rPr>
              <a:t>Viabilidad de proyectos de generación eléctrica en Colombia.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78804" y="2533120"/>
            <a:ext cx="5810117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2810623" y="3188480"/>
            <a:ext cx="3546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4"/>
                </a:solidFill>
                <a:latin typeface="Ancizar Sans"/>
                <a:cs typeface="Ancizar Sans"/>
              </a:rPr>
              <a:t>José Esteban </a:t>
            </a:r>
            <a:r>
              <a:rPr lang="es-ES" b="1" dirty="0" err="1">
                <a:solidFill>
                  <a:schemeClr val="accent4"/>
                </a:solidFill>
                <a:latin typeface="Ancizar Sans"/>
                <a:cs typeface="Ancizar Sans"/>
              </a:rPr>
              <a:t>Rodriguez</a:t>
            </a:r>
            <a:r>
              <a:rPr lang="es-ES" b="1" dirty="0">
                <a:solidFill>
                  <a:schemeClr val="accent4"/>
                </a:solidFill>
                <a:latin typeface="Ancizar Sans"/>
                <a:cs typeface="Ancizar Sans"/>
              </a:rPr>
              <a:t> Quintero</a:t>
            </a:r>
          </a:p>
          <a:p>
            <a:pPr algn="ctr"/>
            <a:r>
              <a:rPr lang="es-ES" b="1" dirty="0">
                <a:solidFill>
                  <a:schemeClr val="accent4"/>
                </a:solidFill>
                <a:latin typeface="Ancizar Sans"/>
                <a:cs typeface="Ancizar Sans"/>
              </a:rPr>
              <a:t>jerodriguez@unal.edu.co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471366" y="3600281"/>
            <a:ext cx="6201268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chemeClr val="accent3"/>
                </a:solidFill>
                <a:latin typeface="Ancizar Serif"/>
                <a:cs typeface="Ancizar Serif"/>
              </a:rPr>
              <a:t>Facultad de Minas – Análisis Geoespacial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Proyectos de generación en Colombia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Estado actual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01256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-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CO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Medellín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561600" y="1303200"/>
            <a:ext cx="3771409" cy="264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endParaRPr lang="es-CO" dirty="0"/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Existen 325 proyectos de generación en Colombia.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Hay más de 50 en construcción y más de 10 en pruebas.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Solo en 2023 se aprobaron más de 200 proyectos.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endParaRPr lang="es-CO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855C34E-49A4-E9E8-72CE-F1DF8217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377A33-113D-CBE4-8BA4-C77D8B750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009" y="1042840"/>
            <a:ext cx="4554486" cy="32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9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10C1F-B2C7-45BB-2F5A-E8873EA3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651D07E-3B36-E0EC-B835-FA66A75A7E44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Proyectos de generación en Colombia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EE46949-BC31-DEB2-425C-F1FC68578231}"/>
              </a:ext>
            </a:extLst>
          </p:cNvPr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Selección de nuevos proyectos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7392F09-58CD-598F-55E5-98C3CAB64CF4}"/>
              </a:ext>
            </a:extLst>
          </p:cNvPr>
          <p:cNvSpPr txBox="1"/>
          <p:nvPr/>
        </p:nvSpPr>
        <p:spPr>
          <a:xfrm>
            <a:off x="561600" y="1303200"/>
            <a:ext cx="8071200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La selección de proyectos depende del tamaño, si es menor de 1MW la aprobación la hace el Operador de Red, si es mayor a 1MW la aprobación la hace la Unidad de Planeación Minero Energética (UPME).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La evaluación de la UPME no tiene en cuenta actualmente criterios sociales ni ambientales.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Se asigna la conexión a proyectos que después no se pueden conectar por problemas ambientales o sociales. 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ES" dirty="0"/>
              <a:t>Al finalizar 2024 se evidenció la conexión de 33 proyectos (1.410 MW), menos del 50% de la generación prevista (3040MW).</a:t>
            </a:r>
            <a:endParaRPr lang="es-CO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17E2F86-69A1-BE62-1C21-9F90F751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FC4925-A895-6AF2-901A-E9D773216D95}"/>
              </a:ext>
            </a:extLst>
          </p:cNvPr>
          <p:cNvSpPr txBox="1"/>
          <p:nvPr/>
        </p:nvSpPr>
        <p:spPr>
          <a:xfrm>
            <a:off x="301256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-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CO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Medellín</a:t>
            </a:r>
          </a:p>
        </p:txBody>
      </p:sp>
    </p:spTree>
    <p:extLst>
      <p:ext uri="{BB962C8B-B14F-4D97-AF65-F5344CB8AC3E}">
        <p14:creationId xmlns:p14="http://schemas.microsoft.com/office/powerpoint/2010/main" val="423670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BE578-7F44-8D97-DB8B-7AE2A407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326DA4C-11E4-5ABF-D789-C04044B2B679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Evaluación de viabilidad de proyectos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6E7210A-5AA8-BF0D-678B-1D961C5B7249}"/>
              </a:ext>
            </a:extLst>
          </p:cNvPr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Propuesta de proyecto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2EB5A2-AFB4-006D-B6D5-C84E3EF94C1D}"/>
              </a:ext>
            </a:extLst>
          </p:cNvPr>
          <p:cNvSpPr txBox="1"/>
          <p:nvPr/>
        </p:nvSpPr>
        <p:spPr>
          <a:xfrm>
            <a:off x="561600" y="1084989"/>
            <a:ext cx="8071200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Realizar una evaluación preliminar de la viabilidad de nuevos proyectos de generación en Colombia a partir de su ubicación.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A630D79D-CBD3-E91A-CE35-7489969E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82EF07-06A9-C251-011D-F249A1E533A9}"/>
              </a:ext>
            </a:extLst>
          </p:cNvPr>
          <p:cNvSpPr txBox="1"/>
          <p:nvPr/>
        </p:nvSpPr>
        <p:spPr>
          <a:xfrm>
            <a:off x="681990" y="1945647"/>
            <a:ext cx="2527268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Restricciones según variables: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Físicas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Eléctricas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Legales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Ambientales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965DAB-7C8F-3257-F660-4AA2CD726D4F}"/>
              </a:ext>
            </a:extLst>
          </p:cNvPr>
          <p:cNvSpPr txBox="1"/>
          <p:nvPr/>
        </p:nvSpPr>
        <p:spPr>
          <a:xfrm>
            <a:off x="5596884" y="1945647"/>
            <a:ext cx="3319550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Ponderación evaluando: 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Conflictividad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Criterios Sociales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CO" dirty="0"/>
              <a:t>Criterios ambientales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0120391-9C4A-371A-AA5A-0206593CF870}"/>
              </a:ext>
            </a:extLst>
          </p:cNvPr>
          <p:cNvSpPr txBox="1"/>
          <p:nvPr/>
        </p:nvSpPr>
        <p:spPr>
          <a:xfrm>
            <a:off x="561600" y="3702019"/>
            <a:ext cx="8071200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Valido para proyectos que se conectan al Sistema Interconectado Nacional.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46D8F0D-4F5B-2997-83C5-F36B00AEB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67" y="1699295"/>
            <a:ext cx="1757608" cy="208626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F47C474-7ACE-5C41-B8E5-CF1769C23268}"/>
              </a:ext>
            </a:extLst>
          </p:cNvPr>
          <p:cNvSpPr txBox="1"/>
          <p:nvPr/>
        </p:nvSpPr>
        <p:spPr>
          <a:xfrm>
            <a:off x="301256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-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CO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Medellín</a:t>
            </a:r>
          </a:p>
        </p:txBody>
      </p:sp>
    </p:spTree>
    <p:extLst>
      <p:ext uri="{BB962C8B-B14F-4D97-AF65-F5344CB8AC3E}">
        <p14:creationId xmlns:p14="http://schemas.microsoft.com/office/powerpoint/2010/main" val="20314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30448-C8C8-21A4-7BD7-5EB9CD44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C6F2FEC-1016-45AA-1617-E496B15DFFA0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Evaluación de viabilidad de proyectos usando GIS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9E2E91-BB62-9862-1125-FAEA743D82D5}"/>
              </a:ext>
            </a:extLst>
          </p:cNvPr>
          <p:cNvSpPr txBox="1"/>
          <p:nvPr/>
        </p:nvSpPr>
        <p:spPr>
          <a:xfrm>
            <a:off x="561600" y="1303200"/>
            <a:ext cx="4540336" cy="264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UPME – </a:t>
            </a:r>
            <a:r>
              <a:rPr lang="es-CO" dirty="0" err="1"/>
              <a:t>Geovisores</a:t>
            </a:r>
            <a:endParaRPr lang="es-CO" dirty="0"/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UPME – Mapa de Conflictividad Social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MinMinas – Ministerio de Minas y Energía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PNN – Parques nacionales naturales. 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SGC – Servicio Geológico Colombiano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ANH – Agencia Nacional de Hidrocarburos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ANLA – Asociación Nacional de Licencias Ambientales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UPME + </a:t>
            </a:r>
            <a:r>
              <a:rPr lang="es-CO" dirty="0" err="1"/>
              <a:t>ORs</a:t>
            </a:r>
            <a:r>
              <a:rPr lang="es-CO" dirty="0"/>
              <a:t> – Información eléctrica del sistema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FAA4C06-B699-D19A-3176-75857BA7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670DA23-9151-E83D-1916-F7D59DC62A0C}"/>
              </a:ext>
            </a:extLst>
          </p:cNvPr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Fuentes de información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pic>
        <p:nvPicPr>
          <p:cNvPr id="2050" name="Picture 2" descr="logo">
            <a:extLst>
              <a:ext uri="{FF2B5EF4-FFF2-40B4-BE49-F238E27FC236}">
                <a16:creationId xmlns:a16="http://schemas.microsoft.com/office/drawing/2014/main" id="{C3F15D64-873E-3E46-D2B4-6E36F5B8E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96" y="1303200"/>
            <a:ext cx="1742986" cy="68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nisterio de Minas y Energía">
            <a:extLst>
              <a:ext uri="{FF2B5EF4-FFF2-40B4-BE49-F238E27FC236}">
                <a16:creationId xmlns:a16="http://schemas.microsoft.com/office/drawing/2014/main" id="{F33B1B26-7FFC-22DE-5998-36C6D4E7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136" y="2191065"/>
            <a:ext cx="2269114" cy="1008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ogo PNNC">
            <a:extLst>
              <a:ext uri="{FF2B5EF4-FFF2-40B4-BE49-F238E27FC236}">
                <a16:creationId xmlns:a16="http://schemas.microsoft.com/office/drawing/2014/main" id="{342E1F5C-0E71-5981-7D06-129E94C78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893" y="3574743"/>
            <a:ext cx="2133600" cy="83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rvicio Geológico Colombiano | Infraestructura Colombiana de Datos  Espaciales">
            <a:extLst>
              <a:ext uri="{FF2B5EF4-FFF2-40B4-BE49-F238E27FC236}">
                <a16:creationId xmlns:a16="http://schemas.microsoft.com/office/drawing/2014/main" id="{2999B7AF-895C-6944-D537-75B86F18E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881" y="2278965"/>
            <a:ext cx="1021232" cy="83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ogo de la Autoridad Nacional de Licencias Ambientales - ANLA">
            <a:extLst>
              <a:ext uri="{FF2B5EF4-FFF2-40B4-BE49-F238E27FC236}">
                <a16:creationId xmlns:a16="http://schemas.microsoft.com/office/drawing/2014/main" id="{132CD9D7-19E6-8E3F-C522-6B9E272A6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04" y="3491498"/>
            <a:ext cx="1742986" cy="88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25E205A-EF04-FACA-5DD9-D266C4E5A427}"/>
              </a:ext>
            </a:extLst>
          </p:cNvPr>
          <p:cNvSpPr txBox="1"/>
          <p:nvPr/>
        </p:nvSpPr>
        <p:spPr>
          <a:xfrm>
            <a:off x="301256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-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CO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Medellín</a:t>
            </a:r>
          </a:p>
        </p:txBody>
      </p:sp>
    </p:spTree>
    <p:extLst>
      <p:ext uri="{BB962C8B-B14F-4D97-AF65-F5344CB8AC3E}">
        <p14:creationId xmlns:p14="http://schemas.microsoft.com/office/powerpoint/2010/main" val="58843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Referencias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561600" y="1303200"/>
            <a:ext cx="80712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buNone/>
            </a:pPr>
            <a:r>
              <a:rPr lang="es-ES" dirty="0"/>
              <a:t>Departamento Nacional de Planeación. (s.f.). </a:t>
            </a:r>
            <a:r>
              <a:rPr lang="es-ES" i="1" dirty="0"/>
              <a:t>Energía eléctrica</a:t>
            </a:r>
            <a:r>
              <a:rPr lang="es-ES" dirty="0"/>
              <a:t>. ArcGIS </a:t>
            </a:r>
            <a:r>
              <a:rPr lang="es-ES" dirty="0" err="1"/>
              <a:t>Experience</a:t>
            </a:r>
            <a:r>
              <a:rPr lang="es-ES" dirty="0"/>
              <a:t>. </a:t>
            </a:r>
            <a:r>
              <a:rPr lang="es-ES" dirty="0">
                <a:hlinkClick r:id="rId3"/>
              </a:rPr>
              <a:t>https://experience.arcgis.com/experience/4cd8b4dc4ae34acebd09c7c18af045b4/page/Energ%C3%ADa-el%C3%A9ctrica</a:t>
            </a:r>
            <a:endParaRPr lang="es-ES" dirty="0"/>
          </a:p>
          <a:p>
            <a:pPr>
              <a:buNone/>
            </a:pPr>
            <a:r>
              <a:rPr lang="es-ES" dirty="0"/>
              <a:t>Unidad de Planeación Minero Energética (UPME). (s.f.). </a:t>
            </a:r>
            <a:r>
              <a:rPr lang="es-ES" i="1" dirty="0"/>
              <a:t>Proyectos energía eléctrica en Colombia</a:t>
            </a:r>
            <a:r>
              <a:rPr lang="es-ES" dirty="0"/>
              <a:t>. ArcGIS </a:t>
            </a:r>
            <a:r>
              <a:rPr lang="es-ES" dirty="0" err="1"/>
              <a:t>Dashboards</a:t>
            </a:r>
            <a:r>
              <a:rPr lang="es-ES" dirty="0"/>
              <a:t>. </a:t>
            </a:r>
            <a:r>
              <a:rPr lang="es-ES" dirty="0">
                <a:hlinkClick r:id="rId4"/>
              </a:rPr>
              <a:t>https://upme.maps.arcgis.com/apps/dashboards/60b51533dd714e1cb536419f8343968f</a:t>
            </a:r>
            <a:endParaRPr lang="es-ES" dirty="0"/>
          </a:p>
          <a:p>
            <a:pPr>
              <a:buNone/>
            </a:pPr>
            <a:r>
              <a:rPr lang="es-ES" dirty="0"/>
              <a:t>Caracol Radio. (2024, octubre 2). </a:t>
            </a:r>
            <a:r>
              <a:rPr lang="es-ES" i="1" dirty="0"/>
              <a:t>UPME: Proyectos de energía solar abastecen cerca del 10% de la demanda nacional</a:t>
            </a:r>
            <a:r>
              <a:rPr lang="es-ES" dirty="0"/>
              <a:t>. </a:t>
            </a:r>
            <a:r>
              <a:rPr lang="es-ES" dirty="0">
                <a:hlinkClick r:id="rId5"/>
              </a:rPr>
              <a:t>https://caracol.com.co/2024/10/02/upme-proyectos-de-energia-solar-abastecen-cerca-del-10-de-la-demanda-nacional/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Agencia Nacional de Licencias Ambientales (ANLA). (s.f.). </a:t>
            </a:r>
            <a:r>
              <a:rPr lang="es-ES" i="1" dirty="0"/>
              <a:t>Visor geográfico – Agencia Nacional de Minería (ANM)</a:t>
            </a:r>
            <a:r>
              <a:rPr lang="es-ES" dirty="0"/>
              <a:t>. </a:t>
            </a:r>
            <a:r>
              <a:rPr lang="es-ES" dirty="0">
                <a:hlinkClick r:id="rId6"/>
              </a:rPr>
              <a:t>https://www.anla.gov.co/eureka/geovisores/177-sistema-de-informacion-geografica-visor-geografico-agencia-nacional-de-mineria-anm-visor-de-titulos-mineros-de-colombia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794259-7C99-3FAB-188D-D3497078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CB4003-8A78-EF00-4818-3F3476818DD5}"/>
              </a:ext>
            </a:extLst>
          </p:cNvPr>
          <p:cNvSpPr txBox="1"/>
          <p:nvPr/>
        </p:nvSpPr>
        <p:spPr>
          <a:xfrm>
            <a:off x="301256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Análisis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Geoespacial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- </a:t>
            </a:r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de Minas</a:t>
            </a: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CO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Medellín</a:t>
            </a:r>
          </a:p>
        </p:txBody>
      </p:sp>
    </p:spTree>
    <p:extLst>
      <p:ext uri="{BB962C8B-B14F-4D97-AF65-F5344CB8AC3E}">
        <p14:creationId xmlns:p14="http://schemas.microsoft.com/office/powerpoint/2010/main" val="204379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484</Words>
  <Application>Microsoft Office PowerPoint</Application>
  <PresentationFormat>Presentación en pantalla (16:9)</PresentationFormat>
  <Paragraphs>62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José Esteban Rodríguez</cp:lastModifiedBy>
  <cp:revision>9</cp:revision>
  <dcterms:created xsi:type="dcterms:W3CDTF">2024-06-25T17:03:54Z</dcterms:created>
  <dcterms:modified xsi:type="dcterms:W3CDTF">2025-05-02T07:25:13Z</dcterms:modified>
</cp:coreProperties>
</file>